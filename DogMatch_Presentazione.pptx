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-914400"/>
            <a:ext cx="5486400" cy="5486400"/>
          </a:xfrm>
          <a:prstGeom prst="ellipse">
            <a:avLst/>
          </a:prstGeom>
          <a:solidFill>
            <a:srgbClr val="003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DogMatch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4C8FF"/>
                </a:solidFill>
              </a:rPr>
              <a:t>La piattaforma di social networking per cani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CA5DC"/>
                </a:solidFill>
              </a:rPr>
              <a:t>Trova il compagno perfetto per il tuo cane.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206240"/>
            <a:ext cx="4389120" cy="0"/>
          </a:xfrm>
          <a:prstGeom prst="line">
            <a:avLst/>
          </a:prstGeom>
          <a:ln w="31750">
            <a:solidFill>
              <a:srgbClr val="FF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4572000"/>
            <a:ext cx="1691640" cy="411480"/>
          </a:xfrm>
          <a:prstGeom prst="roundRect">
            <a:avLst>
              <a:gd name="adj" fmla="val 5000"/>
            </a:avLst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Python+FastAPI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4572000"/>
            <a:ext cx="1691640" cy="41148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457200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Node.js Express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4572000"/>
            <a:ext cx="1691640" cy="411480"/>
          </a:xfrm>
          <a:prstGeom prst="roundRect">
            <a:avLst>
              <a:gd name="adj" fmla="val 5000"/>
            </a:avLst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457200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React 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4572000"/>
            <a:ext cx="1691640" cy="411480"/>
          </a:xfrm>
          <a:prstGeom prst="roundRect">
            <a:avLst>
              <a:gd name="adj" fmla="val 5000"/>
            </a:avLst>
          </a:prstGeom>
          <a:solidFill>
            <a:srgbClr val="641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457200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React Native Expo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4572000"/>
            <a:ext cx="1691640" cy="411480"/>
          </a:xfrm>
          <a:prstGeom prst="roundRect">
            <a:avLst>
              <a:gd name="adj" fmla="val 5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457200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GPT-4o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572000"/>
            <a:ext cx="1691640" cy="411480"/>
          </a:xfrm>
          <a:prstGeom prst="roundRect">
            <a:avLst>
              <a:gd name="adj" fmla="val 5000"/>
            </a:avLst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457200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Socket.IO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303520"/>
            <a:ext cx="2560320" cy="1188720"/>
          </a:xfrm>
          <a:prstGeom prst="rect">
            <a:avLst/>
          </a:prstGeom>
          <a:solidFill>
            <a:srgbClr val="142050"/>
          </a:solidFill>
          <a:ln w="1270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dogmatch_ai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9F0"/>
                </a:solidFill>
              </a:rPr>
              <a:t>Python / FastAPI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5303520"/>
            <a:ext cx="2560320" cy="1188720"/>
          </a:xfrm>
          <a:prstGeom prst="rect">
            <a:avLst/>
          </a:prstGeom>
          <a:solidFill>
            <a:srgbClr val="142050"/>
          </a:solidFill>
          <a:ln w="1270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5349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backend_node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9F0"/>
                </a:solidFill>
              </a:rPr>
              <a:t>Node.js / Express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5303520"/>
            <a:ext cx="2560320" cy="1188720"/>
          </a:xfrm>
          <a:prstGeom prst="rect">
            <a:avLst/>
          </a:prstGeom>
          <a:solidFill>
            <a:srgbClr val="142050"/>
          </a:solidFill>
          <a:ln w="1270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5349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9F0"/>
                </a:solidFill>
              </a:rPr>
              <a:t>React / Vite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2520" y="5303520"/>
            <a:ext cx="2560320" cy="1188720"/>
          </a:xfrm>
          <a:prstGeom prst="rect">
            <a:avLst/>
          </a:prstGeom>
          <a:solidFill>
            <a:srgbClr val="142050"/>
          </a:solidFill>
          <a:ln w="1270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20" y="5349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Mobile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9F0"/>
                </a:solidFill>
              </a:rPr>
              <a:t>React Native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064A0"/>
                </a:solidFill>
              </a:rPr>
              <a:t>Giugno 2026  |  4 repository  |  146 file sorgente  |  GPT-4o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100584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Il Progetto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4D2FF"/>
                </a:solidFill>
              </a:rPr>
              <a:t>Cosa e' DogMatch e quale problema risolve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</a:rPr>
              <a:t>DogMatch funziona come un'app di dating, ma per cani: gli utenti creano un profilo per il proprio cane, scorrono i profili di altri cani nella zona, inviano like e — quando l'interesse e' reciproco — si crea un match che apre una chat tra i proprietari.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5303520" cy="3474720"/>
          </a:xfrm>
          <a:prstGeom prst="rect">
            <a:avLst/>
          </a:prstGeom>
          <a:solidFill>
            <a:srgbClr val="FFF3E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8C00"/>
                </a:solidFill>
              </a:rPr>
              <a:t>Il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0">
                <a:solidFill>
                  <a:srgbClr val="502800"/>
                </a:solidFill>
              </a:rPr>
              <a:t>Trovare compagni di gioco o partner per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02800"/>
                </a:solidFill>
              </a:rPr>
              <a:t>l'accoppiamento del cane e' difficile.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02800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02800"/>
                </a:solidFill>
              </a:rPr>
              <a:t>Non esistono strumenti dedicati: ci si affida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02800"/>
                </a:solidFill>
              </a:rPr>
              <a:t>al caso nei parchi o a gruppi Facebook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02800"/>
                </a:solidFill>
              </a:rPr>
              <a:t>disorganizzati.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02800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02800"/>
                </a:solidFill>
              </a:rPr>
              <a:t>Nessun filtro per razza, eta', carattere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02800"/>
                </a:solidFill>
              </a:rPr>
              <a:t>o distanza geografica.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286000"/>
            <a:ext cx="5303520" cy="347472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7D32"/>
                </a:solidFill>
              </a:rPr>
              <a:t>La Soluzione DogMatch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92608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0">
                <a:solidFill>
                  <a:srgbClr val="003C0A"/>
                </a:solidFill>
              </a:rPr>
              <a:t>App completa con profili cane dettagliati,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03C0A"/>
                </a:solidFill>
              </a:rPr>
              <a:t>feed di discovery geolocalizzato,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03C0A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03C0A"/>
                </a:solidFill>
              </a:rPr>
              <a:t>Sistema like/match reciproco,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03C0A"/>
                </a:solidFill>
              </a:rPr>
              <a:t>chat real-time, chatbot AI SnoutBot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03C0A"/>
                </a:solidFill>
              </a:rPr>
              <a:t>e notifiche push multicanale.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03C0A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03C0A"/>
                </a:solidFill>
              </a:rPr>
              <a:t>Disponibile su Web, iOS e Android.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60720" y="4023360"/>
            <a:ext cx="548640" cy="0"/>
          </a:xfrm>
          <a:prstGeom prst="line">
            <a:avLst/>
          </a:prstGeom>
          <a:ln w="38100">
            <a:solidFill>
              <a:srgbClr val="004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B4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DogMatch in numeri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0B9E6"/>
                </a:solidFill>
              </a:rPr>
              <a:t>Tutto il progetto a colpo d'occhio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" y="1463040"/>
            <a:ext cx="2560320" cy="2011680"/>
          </a:xfrm>
          <a:prstGeom prst="rect">
            <a:avLst/>
          </a:prstGeom>
          <a:solidFill>
            <a:srgbClr val="16204B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6002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8C00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2651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Repository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4136" y="1463040"/>
            <a:ext cx="2560320" cy="2011680"/>
          </a:xfrm>
          <a:prstGeom prst="rect">
            <a:avLst/>
          </a:prstGeom>
          <a:solidFill>
            <a:srgbClr val="16204B"/>
          </a:solidFill>
          <a:ln w="254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4136" y="16002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64B4FF"/>
                </a:solidFill>
              </a:rPr>
              <a:t>146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6" y="2651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File sorgente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1463040"/>
            <a:ext cx="2560320" cy="2011680"/>
          </a:xfrm>
          <a:prstGeom prst="rect">
            <a:avLst/>
          </a:prstGeom>
          <a:solidFill>
            <a:srgbClr val="16204B"/>
          </a:solidFill>
          <a:ln w="25400">
            <a:solidFill>
              <a:srgbClr val="64D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16002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64DC82"/>
                </a:solidFill>
              </a:rPr>
              <a:t>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2651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API Endpoint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34856" y="1463040"/>
            <a:ext cx="2560320" cy="2011680"/>
          </a:xfrm>
          <a:prstGeom prst="rect">
            <a:avLst/>
          </a:prstGeom>
          <a:solidFill>
            <a:srgbClr val="16204B"/>
          </a:solidFill>
          <a:ln w="25400">
            <a:solidFill>
              <a:srgbClr val="FF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34856" y="16002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788C"/>
                </a:solidFill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4856" y="2651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Tool AI GPT-4o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" y="3657600"/>
            <a:ext cx="2560320" cy="2011680"/>
          </a:xfrm>
          <a:prstGeom prst="rect">
            <a:avLst/>
          </a:prstGeom>
          <a:solidFill>
            <a:srgbClr val="16204B"/>
          </a:solidFill>
          <a:ln w="25400">
            <a:solidFill>
              <a:srgbClr val="C8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37947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C896FF"/>
                </a:solidFill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4846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Modelli 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74136" y="3657600"/>
            <a:ext cx="2560320" cy="2011680"/>
          </a:xfrm>
          <a:prstGeom prst="rect">
            <a:avLst/>
          </a:prstGeom>
          <a:solidFill>
            <a:srgbClr val="16204B"/>
          </a:solidFill>
          <a:ln w="25400">
            <a:solidFill>
              <a:srgbClr val="FF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74136" y="37947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B450"/>
                </a:solidFill>
              </a:rP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4846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Schermate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4496" y="3657600"/>
            <a:ext cx="2560320" cy="2011680"/>
          </a:xfrm>
          <a:prstGeom prst="rect">
            <a:avLst/>
          </a:prstGeom>
          <a:solidFill>
            <a:srgbClr val="16204B"/>
          </a:solidFill>
          <a:ln w="25400">
            <a:solidFill>
              <a:srgbClr val="64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4496" y="37947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64DCC8"/>
                </a:solidFill>
              </a:rPr>
              <a:t>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4846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Knowledge 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34856" y="3657600"/>
            <a:ext cx="2560320" cy="2011680"/>
          </a:xfrm>
          <a:prstGeom prst="rect">
            <a:avLst/>
          </a:prstGeom>
          <a:solidFill>
            <a:srgbClr val="16204B"/>
          </a:solidFill>
          <a:ln w="25400">
            <a:solidFill>
              <a:srgbClr val="FF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4856" y="37947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8CB4"/>
                </a:solidFill>
              </a:rPr>
              <a:t>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4856" y="4846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Razze supportate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05064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100584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Architettura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4D2FF"/>
                </a:solidFill>
              </a:rPr>
              <a:t>Come i 4 repository comunicano tra loro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2103120" cy="868680"/>
          </a:xfrm>
          <a:prstGeom prst="rect">
            <a:avLst/>
          </a:prstGeom>
          <a:solidFill>
            <a:srgbClr val="0277B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00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Frontend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933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EBFF"/>
                </a:solidFill>
              </a:rPr>
              <a:t>React 19  :5173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97480"/>
            <a:ext cx="2103120" cy="868680"/>
          </a:xfrm>
          <a:prstGeom prst="rect">
            <a:avLst/>
          </a:prstGeom>
          <a:solidFill>
            <a:srgbClr val="641EB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743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App Mobile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363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EBFF"/>
                </a:solidFill>
              </a:rPr>
              <a:t>React Native Expo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" y="1988819"/>
            <a:ext cx="1280160" cy="800101"/>
          </a:xfrm>
          <a:prstGeom prst="line">
            <a:avLst/>
          </a:prstGeom>
          <a:ln w="25400">
            <a:solidFill>
              <a:srgbClr val="004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377440" y="2788920"/>
            <a:ext cx="1280160" cy="342900"/>
          </a:xfrm>
          <a:prstGeom prst="line">
            <a:avLst/>
          </a:prstGeom>
          <a:ln w="25400">
            <a:solidFill>
              <a:srgbClr val="004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657600" y="1920240"/>
            <a:ext cx="3474720" cy="1828800"/>
          </a:xfrm>
          <a:prstGeom prst="rect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965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backend_node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423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CFF"/>
                </a:solidFill>
              </a:rPr>
              <a:t>Express  :3000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C8F0"/>
                </a:solidFill>
              </a:rPr>
              <a:t>JWT  Socket.IO  Sequelize  Rate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063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C8F0"/>
                </a:solidFill>
              </a:rPr>
              <a:t>Multer  Nodemailer  bcrypt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0" y="2834640"/>
            <a:ext cx="1280160" cy="0"/>
          </a:xfrm>
          <a:prstGeom prst="line">
            <a:avLst/>
          </a:prstGeom>
          <a:ln w="31750">
            <a:solidFill>
              <a:srgbClr val="FF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40880" y="2606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8C00"/>
                </a:solidFill>
              </a:rPr>
              <a:t>HTTP proxy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2011680"/>
            <a:ext cx="3200400" cy="1645920"/>
          </a:xfrm>
          <a:prstGeom prst="rect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057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dogmatch_ai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F0CD"/>
                </a:solidFill>
              </a:rPr>
              <a:t>FastAPI  :8000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E6B9"/>
                </a:solidFill>
              </a:rPr>
              <a:t>GPT-4o  sentence-transformers  14 tool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4297680"/>
            <a:ext cx="2926080" cy="822960"/>
          </a:xfrm>
          <a:prstGeom prst="rect">
            <a:avLst/>
          </a:prstGeom>
          <a:solidFill>
            <a:srgbClr val="4A14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431596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MySQL 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663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2B4FF"/>
                </a:solidFill>
              </a:rPr>
              <a:t>Sequelize ORM  aiomysql pool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94960" y="3749039"/>
            <a:ext cx="0" cy="548641"/>
          </a:xfrm>
          <a:prstGeom prst="line">
            <a:avLst/>
          </a:prstGeom>
          <a:ln w="25400">
            <a:solidFill>
              <a:srgbClr val="641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686800" y="4297680"/>
            <a:ext cx="2743200" cy="822960"/>
          </a:xfrm>
          <a:prstGeom prst="rect">
            <a:avLst/>
          </a:prstGeom>
          <a:solidFill>
            <a:srgbClr val="B71C1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43159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OpenAI GPT-4o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B4B4"/>
                </a:solidFill>
              </a:rPr>
              <a:t>API cloud esterna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012680" y="3657600"/>
            <a:ext cx="0" cy="640080"/>
          </a:xfrm>
          <a:prstGeom prst="line">
            <a:avLst/>
          </a:prstGeom>
          <a:ln w="25400">
            <a:solidFill>
              <a:srgbClr val="B7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74320" y="4663440"/>
            <a:ext cx="3017520" cy="777240"/>
          </a:xfrm>
          <a:prstGeom prst="rect">
            <a:avLst/>
          </a:prstGeom>
          <a:solidFill>
            <a:srgbClr val="00838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46817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WebSocket (Socket.IO)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5029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F0EB"/>
                </a:solidFill>
              </a:rPr>
              <a:t>bot_typing  notifiche  messaggi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2377440" y="3749039"/>
            <a:ext cx="1280160" cy="914401"/>
          </a:xfrm>
          <a:prstGeom prst="line">
            <a:avLst/>
          </a:prstGeom>
          <a:ln w="1905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74320" y="5669280"/>
            <a:ext cx="11612880" cy="914400"/>
          </a:xfrm>
          <a:prstGeom prst="rect">
            <a:avLst/>
          </a:prstGeom>
          <a:solidFill>
            <a:srgbClr val="EBF0FF"/>
          </a:solidFill>
          <a:ln w="1270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7150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E5A"/>
                </a:solidFill>
              </a:rPr>
              <a:t>Flusso chat AI:  Client -&gt; POST /api/chat/bot (JWT)  -&gt;  backend_node carica profilo da MySQL  -&gt;  Proxy a dogmatch_ai:8000  -&gt;  GPT-4o tool-calling loop  -&gt;  risposta al client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B4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144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Funzionalita' Principali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4D2FF"/>
                </a:solidFill>
              </a:rPr>
              <a:t>Tutto quello che puo' fare un utente su DogMatch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97764" y="1143000"/>
            <a:ext cx="2697480" cy="50292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4" y="118872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PROFILO CANE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4" y="1645920"/>
            <a:ext cx="2697480" cy="1828800"/>
          </a:xfrm>
          <a:prstGeom prst="rect">
            <a:avLst/>
          </a:prstGeom>
          <a:solidFill>
            <a:srgbClr val="F0F4FF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" y="173736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32"/>
                </a:solidFill>
              </a:rPr>
              <a:t>Registrazione 2 step: dati utente + dati cane.
Upload foto, 26 razze, pedigree PDF,
geolocalizzazione, bio e info sanitarie.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6412" y="1143000"/>
            <a:ext cx="269748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6412" y="118872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DISCOVERY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6412" y="1645920"/>
            <a:ext cx="2697480" cy="1828800"/>
          </a:xfrm>
          <a:prstGeom prst="rect">
            <a:avLst/>
          </a:prstGeom>
          <a:solidFill>
            <a:srgbClr val="F0F4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7852" y="173736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32"/>
                </a:solidFill>
              </a:rPr>
              <a:t>Feed card con swipe gestuale.
Filtri: intento (gioco/accoppiamento),
distanza (provincia/regione). 50 cani/batch.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5060" y="1143000"/>
            <a:ext cx="2697480" cy="5029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5060" y="118872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MATCHING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1645920"/>
            <a:ext cx="2697480" cy="1828800"/>
          </a:xfrm>
          <a:prstGeom prst="rect">
            <a:avLst/>
          </a:prstGeom>
          <a:solidFill>
            <a:srgbClr val="F0F4FF"/>
          </a:solidFill>
          <a:ln w="1524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6500" y="173736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32"/>
                </a:solidFill>
              </a:rPr>
              <a:t>Like reciproco = match automatico.
Notifica push istantanea a entrambi.
Regole razza+sesso per accoppiamento.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3708" y="1143000"/>
            <a:ext cx="269748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3708" y="118872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CHAT REAL-TIME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3708" y="1645920"/>
            <a:ext cx="2697480" cy="1828800"/>
          </a:xfrm>
          <a:prstGeom prst="rect">
            <a:avLst/>
          </a:prstGeom>
          <a:solidFill>
            <a:srgbClr val="F0F4FF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5148" y="173736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32"/>
                </a:solidFill>
              </a:rPr>
              <a:t>Messaggi P2P tra match confermati.
Socket.IO: typing indicator, consegna istantanea.
Soft-delete e segnalazione utenti.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764" y="3611880"/>
            <a:ext cx="2697480" cy="502920"/>
          </a:xfrm>
          <a:prstGeom prst="rect">
            <a:avLst/>
          </a:prstGeom>
          <a:solidFill>
            <a:srgbClr val="641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4" y="365760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SNOUTBOT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764" y="4114800"/>
            <a:ext cx="2697480" cy="1828800"/>
          </a:xfrm>
          <a:prstGeom prst="rect">
            <a:avLst/>
          </a:prstGeom>
          <a:solidFill>
            <a:srgbClr val="F0F4FF"/>
          </a:solidFill>
          <a:ln w="15240">
            <a:solidFill>
              <a:srgbClr val="641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" y="420624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32"/>
                </a:solidFill>
              </a:rPr>
              <a:t>GPT-4o con 14 tool: cerca cani, prenota parchi,
risponde a domande, memorizza preferenze,
ricerca web live con Tavily API.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6412" y="3611880"/>
            <a:ext cx="2697480" cy="50292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6412" y="365760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NOTIFICHE PUSH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6412" y="4114800"/>
            <a:ext cx="2697480" cy="1828800"/>
          </a:xfrm>
          <a:prstGeom prst="rect">
            <a:avLst/>
          </a:prstGeom>
          <a:solidFill>
            <a:srgbClr val="F0F4FF"/>
          </a:solidFill>
          <a:ln w="1524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7852" y="420624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32"/>
                </a:solidFill>
              </a:rPr>
              <a:t>3 canali: DB + Socket.IO + Expo Push.
Tipi: richiesta match, match accettato, messaggio.
Notifiche AI proattive ogni 5 minuti.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5060" y="3611880"/>
            <a:ext cx="2697480" cy="5029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5060" y="365760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ADMIN PANEL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5060" y="4114800"/>
            <a:ext cx="2697480" cy="1828800"/>
          </a:xfrm>
          <a:prstGeom prst="rect">
            <a:avLst/>
          </a:prstGeom>
          <a:solidFill>
            <a:srgbClr val="F0F4FF"/>
          </a:solidFill>
          <a:ln w="1524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6500" y="420624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32"/>
                </a:solidFill>
              </a:rPr>
              <a:t>Dashboard KPI: utenti, match, segnalazioni.
Verifica pedigree, blocco account, cambio ruolo.
Disponibile su web e mobile.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3708" y="3611880"/>
            <a:ext cx="2697480" cy="50292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3708" y="365760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MAPPE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3708" y="4114800"/>
            <a:ext cx="2697480" cy="1828800"/>
          </a:xfrm>
          <a:prstGeom prst="rect">
            <a:avLst/>
          </a:prstGeom>
          <a:solidFill>
            <a:srgbClr val="F0F4FF"/>
          </a:solidFill>
          <a:ln w="1524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5148" y="420624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32"/>
                </a:solidFill>
              </a:rPr>
              <a:t>Mappa Leaflet interattiva sul web.
GPS via expo-location su mobile.
Filtri geografici nel discovery feed.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B4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SnoutBot - L'Assistente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0BEFF"/>
                </a:solidFill>
              </a:rPr>
              <a:t>GPT-4o con tool-calling orchestrato, RAG pre-fetch e memoria persistente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303520" cy="1691640"/>
          </a:xfrm>
          <a:prstGeom prst="rect">
            <a:avLst/>
          </a:prstGeom>
          <a:solidFill>
            <a:srgbClr val="16204B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1  Intent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</a:rPr>
              <a:t>Cosine similarity embedding vs centroide di 10 frasi prototipo.
Se score &gt;= 0.35: e' una ricerca cani -&gt; pre-fetch RAG.
Fallback: 29 keyword stem italiani.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08760"/>
            <a:ext cx="5303520" cy="1691640"/>
          </a:xfrm>
          <a:prstGeom prst="rect">
            <a:avLst/>
          </a:prstGeom>
          <a:solidFill>
            <a:srgbClr val="16204B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2  RAG Pre-fetch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</a:rPr>
              <a:t>Arricchisce la query con il profilo del cane dell'utente.
sentence-transformers (384-dim) trova top-5 cani piu' compatibili.
Li inserisce nel system prompt: GPT-4o risponde senza tool-call.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29000"/>
            <a:ext cx="5303520" cy="1691640"/>
          </a:xfrm>
          <a:prstGeom prst="rect">
            <a:avLst/>
          </a:prstGeom>
          <a:solidFill>
            <a:srgbClr val="16204B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520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3  System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9319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</a:rPr>
              <a:t>context (da Node.js) + identita' SnoutBot + nome utente
+ memoria AI persistente + notifiche non lette + RAG.
Ogni risposta e' personalizzata sull'utente reale.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429000"/>
            <a:ext cx="5303520" cy="1691640"/>
          </a:xfrm>
          <a:prstGeom prst="rect">
            <a:avLst/>
          </a:prstGeom>
          <a:solidFill>
            <a:srgbClr val="16204B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520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4  Tool-Calling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9319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</a:rPr>
              <a:t>Max 5 iterazioni con GPT-4o. finish_reason='stop' -&gt; risposta.
finish_reason='tool_calls' -&gt; esegui tool, aggiungi risultato, itera.
Tutti e 14 i tool sono asincroni (asyncio.to_thread per CPU-bound).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25780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I 14 Tool disponibili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760720"/>
            <a:ext cx="2423160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7607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search_dogs_semantic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5760720"/>
            <a:ext cx="2423160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57607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analyze_user_profile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5760720"/>
            <a:ext cx="2752344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5760720"/>
            <a:ext cx="2752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get_knowledge_base_info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84464" y="5760720"/>
            <a:ext cx="2313432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4" y="5760720"/>
            <a:ext cx="2313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update_user_profile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6172200"/>
            <a:ext cx="1435608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172200"/>
            <a:ext cx="1435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save_memory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47088" y="6172200"/>
            <a:ext cx="1655064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47088" y="6172200"/>
            <a:ext cx="1655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save_reminder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39312" y="6172200"/>
            <a:ext cx="1764792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9312" y="6172200"/>
            <a:ext cx="1764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clear_reminder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41264" y="6172200"/>
            <a:ext cx="1325880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41264" y="617220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search_web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04304" y="6172200"/>
            <a:ext cx="2203704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04304" y="6172200"/>
            <a:ext cx="2203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get_activity_stats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45168" y="6172200"/>
            <a:ext cx="2313432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45168" y="6172200"/>
            <a:ext cx="2313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get_available_slots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6583680"/>
            <a:ext cx="1764792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83680"/>
            <a:ext cx="1764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book_area_slot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76272" y="6583680"/>
            <a:ext cx="2093976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76272" y="6583680"/>
            <a:ext cx="2093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get_user_bookings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07408" y="6583680"/>
            <a:ext cx="1764792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07408" y="6583680"/>
            <a:ext cx="1764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cancel_booking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6583680"/>
            <a:ext cx="1874520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658368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moderation_flag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05064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1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Il Sistema di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8D7"/>
                </a:solidFill>
              </a:rPr>
              <a:t>Like, dislike, match reciproco e discovery feed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03520" cy="237744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7D32"/>
                </a:solidFill>
              </a:rPr>
              <a:t>GIOCO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0">
                <a:solidFill>
                  <a:srgbClr val="1E1E32"/>
                </a:solidFill>
              </a:rPr>
              <a:t>• Aperto a tutti i cani, nessuna restrizione di razza.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E1E32"/>
                </a:solidFill>
              </a:rPr>
              <a:t>• Cane puo' avere qualsiasi eta'.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E1E32"/>
                </a:solidFill>
              </a:rPr>
              <a:t>• Notifica al ricevente: 'Il tuo cane ti invita a giocare!'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E1E32"/>
                </a:solidFill>
              </a:rPr>
              <a:t>• Match se like reciproco su stesso intento.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188720"/>
            <a:ext cx="5303520" cy="2377440"/>
          </a:xfrm>
          <a:prstGeom prst="rect">
            <a:avLst/>
          </a:prstGeom>
          <a:solidFill>
            <a:srgbClr val="FCE4EC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2344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1E63"/>
                </a:solidFill>
              </a:rPr>
              <a:t>ACCOPPIAMENTO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0">
                <a:solidFill>
                  <a:srgbClr val="1E1E32"/>
                </a:solidFill>
              </a:rPr>
              <a:t>• Stessa razza + sesso opposto obbligatori.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E1E32"/>
                </a:solidFill>
              </a:rPr>
              <a:t>• Cane deve avere almeno 1 anno di eta'.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E1E32"/>
                </a:solidFill>
              </a:rPr>
              <a:t>• disponibilitaRiproduttiva deve essere attiva.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E1E32"/>
                </a:solidFill>
              </a:rPr>
              <a:t>• HTTP 422 con messaggio esplicativo se regola violata.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49039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E5A"/>
                </a:solidFill>
              </a:rPr>
              <a:t>Pipeline del Like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06240"/>
            <a:ext cx="1737360" cy="146304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2976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Verifica
propriet'a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03120" y="4937760.0"/>
            <a:ext cx="182880" cy="0.0"/>
          </a:xfrm>
          <a:prstGeom prst="line">
            <a:avLst/>
          </a:prstGeom>
          <a:ln w="25400">
            <a:solidFill>
              <a:srgbClr val="0A1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286000" y="4206240"/>
            <a:ext cx="1737360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42976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Regole
intento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23360" y="4937760.0"/>
            <a:ext cx="182880" cy="0.0"/>
          </a:xfrm>
          <a:prstGeom prst="line">
            <a:avLst/>
          </a:prstGeom>
          <a:ln w="25400">
            <a:solidFill>
              <a:srgbClr val="0A1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206240" y="4206240"/>
            <a:ext cx="1737360" cy="1463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42976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Anti-
duplicato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0" y="4937760.0"/>
            <a:ext cx="182880" cy="0.0"/>
          </a:xfrm>
          <a:prstGeom prst="line">
            <a:avLst/>
          </a:prstGeom>
          <a:ln w="25400">
            <a:solidFill>
              <a:srgbClr val="0A1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126480" y="4206240"/>
            <a:ext cx="1737360" cy="146304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2976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Match
reciproco?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63840" y="4937760.0"/>
            <a:ext cx="182880" cy="0.0"/>
          </a:xfrm>
          <a:prstGeom prst="line">
            <a:avLst/>
          </a:prstGeom>
          <a:ln w="25400">
            <a:solidFill>
              <a:srgbClr val="0A1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046720" y="4206240"/>
            <a:ext cx="1737360" cy="146304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42976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Notifiche
multicanale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784080" y="4937760.0"/>
            <a:ext cx="182880" cy="0.0"/>
          </a:xfrm>
          <a:prstGeom prst="line">
            <a:avLst/>
          </a:prstGeom>
          <a:ln w="25400">
            <a:solidFill>
              <a:srgbClr val="0A1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966960" y="4206240"/>
            <a:ext cx="1737360" cy="1463040"/>
          </a:xfrm>
          <a:prstGeom prst="rect">
            <a:avLst/>
          </a:prstGeom>
          <a:solidFill>
            <a:srgbClr val="641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42976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Risposta
client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B4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"/>
            <a:ext cx="12188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Real-time &amp;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8686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6E6DC"/>
                </a:solidFill>
              </a:rPr>
              <a:t>Socket.IO, notifiche push Expo e app React Native cross-platform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838F"/>
                </a:solidFill>
              </a:rPr>
              <a:t>Eventi Socket.IO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2286000" cy="54864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bot_typing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011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6E1"/>
                </a:solidFill>
              </a:rPr>
              <a:t>Pallini animati nella chat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06040"/>
            <a:ext cx="2286000" cy="54864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nuovo_messaggio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974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6E1"/>
                </a:solidFill>
              </a:rPr>
              <a:t>Consegna messaggio P2P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91840"/>
            <a:ext cx="2286000" cy="54864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383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nuova_notifica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3832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6E1"/>
                </a:solidFill>
              </a:rPr>
              <a:t>Unshift Redux in tempo reale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77640"/>
            <a:ext cx="2286000" cy="54864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69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user_typing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0690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6E1"/>
                </a:solidFill>
              </a:rPr>
              <a:t>Indicatore digitazione P2P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663440"/>
            <a:ext cx="2286000" cy="54864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754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join/leave_chat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7548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6E1"/>
                </a:solidFill>
              </a:rPr>
              <a:t>Gestione stanze interazione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49240"/>
            <a:ext cx="2286000" cy="54864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440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notifica_admin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6E1"/>
                </a:solidFill>
              </a:rPr>
              <a:t>Alert admin in admin_room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8C00"/>
                </a:solidFill>
              </a:rPr>
              <a:t>Push Notification (Expo)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920240"/>
            <a:ext cx="5394960" cy="1097280"/>
          </a:xfrm>
          <a:prstGeom prst="rect">
            <a:avLst/>
          </a:prstGeom>
          <a:solidFill>
            <a:srgbClr val="16204B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99339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1E63"/>
                </a:solidFill>
              </a:rPr>
              <a:t>richiesta_match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423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</a:rPr>
              <a:t>Qualcuno ha messo like al tuo cane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7249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96C8"/>
                </a:solidFill>
              </a:rPr>
              <a:t>DB + Socket.IO + Expo Push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108960"/>
            <a:ext cx="5394960" cy="1097280"/>
          </a:xfrm>
          <a:prstGeom prst="rect">
            <a:avLst/>
          </a:prstGeom>
          <a:solidFill>
            <a:srgbClr val="16204B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18211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match_accettato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11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</a:rPr>
              <a:t>Match! Apre la chat tra i due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9136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96C8"/>
                </a:solidFill>
              </a:rPr>
              <a:t>DB + Socket.IO + Expo Push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297680"/>
            <a:ext cx="5394960" cy="1097280"/>
          </a:xfrm>
          <a:prstGeom prst="rect">
            <a:avLst/>
          </a:prstGeom>
          <a:solidFill>
            <a:srgbClr val="16204B"/>
          </a:solidFill>
          <a:ln w="2540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37083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7AB"/>
                </a:solidFill>
              </a:rPr>
              <a:t>messaggio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800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</a:rPr>
              <a:t>Nuovo messaggio nella chat P2P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1023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96C8"/>
                </a:solidFill>
              </a:rPr>
              <a:t>DB + Socket.IO + Expo Push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App Mobile - Highlights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D2FF"/>
                </a:solidFill>
              </a:rPr>
              <a:t>Redux 3 slice reattivi (auth/interazioni/notifiche)  |  Interceptor Axios: JWT auto + logout su 401  |  storage.js: SecureStore / localStorage  |  FlatList invertita nella chat  |  Admin tab condizionale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05064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144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Stack Tecnologico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4D2FF"/>
                </a:solidFill>
              </a:rPr>
              <a:t>Tutte le tecnologie, librerie e versioni del progetto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743200" cy="5943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216152"/>
            <a:ext cx="2596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dogmatch_ai  Python /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2743200" cy="5029200"/>
          </a:xfrm>
          <a:prstGeom prst="rect">
            <a:avLst/>
          </a:prstGeom>
          <a:solidFill>
            <a:srgbClr val="F0F4FF"/>
          </a:solidFill>
          <a:ln w="1270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2560320" cy="38404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8288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fastapi 0.136.1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2560320" cy="38404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2860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uvicorn 0.46.0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43200"/>
            <a:ext cx="2560320" cy="38404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7432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openai 2.36.0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2560320" cy="38404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2004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sentence-transformers 5.4.1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57600"/>
            <a:ext cx="2560320" cy="38404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6576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torch 2.11.0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2560320" cy="38404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41148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scikit-learn 1.8.0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572000"/>
            <a:ext cx="2560320" cy="38404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45720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aiomysql 0.3.2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2560320" cy="38404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50292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PyJWT 2.12.1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486400"/>
            <a:ext cx="2560320" cy="38404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54864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pydantic 2.13.4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943600"/>
            <a:ext cx="2560320" cy="38404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59436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pytest 9.0.3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1143000"/>
            <a:ext cx="274320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0712" y="1216152"/>
            <a:ext cx="2596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backend_node  Node.js / Express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1737360"/>
            <a:ext cx="2743200" cy="5029200"/>
          </a:xfrm>
          <a:prstGeom prst="rect">
            <a:avLst/>
          </a:prstGeom>
          <a:solidFill>
            <a:srgbClr val="F0F4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29000" y="1828800"/>
            <a:ext cx="25603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47288" y="18288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express 5.2.1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29000" y="2286000"/>
            <a:ext cx="25603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47288" y="22860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sequelize 6.37.8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29000" y="2743200"/>
            <a:ext cx="25603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47288" y="27432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mysql2 3.22.3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9000" y="3200400"/>
            <a:ext cx="25603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47288" y="32004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socket.io 4.8.3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29000" y="3657600"/>
            <a:ext cx="25603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47288" y="36576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jsonwebtoken 9.0.3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29000" y="4114800"/>
            <a:ext cx="25603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47288" y="41148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bcrypt 6.0.0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29000" y="4572000"/>
            <a:ext cx="25603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47288" y="45720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express-rate-limit 8.4.1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29000" y="5029200"/>
            <a:ext cx="25603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47288" y="50292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multer 2.1.1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29000" y="5486400"/>
            <a:ext cx="25603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47288" y="54864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nodemailer 8.0.7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29000" y="5943600"/>
            <a:ext cx="25603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47288" y="59436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axios 1.15.1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1143000"/>
            <a:ext cx="2743200" cy="594360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73952" y="1216152"/>
            <a:ext cx="2596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Frontend-DogMatch  React / Vite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1737360"/>
            <a:ext cx="2743200" cy="5029200"/>
          </a:xfrm>
          <a:prstGeom prst="rect">
            <a:avLst/>
          </a:prstGeom>
          <a:solidFill>
            <a:srgbClr val="F0F4FF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92240" y="1828800"/>
            <a:ext cx="2560320" cy="384048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10528" y="18288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react 19.2.4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2286000"/>
            <a:ext cx="2560320" cy="384048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10528" y="22860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react-dom 19.2.4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92240" y="2743200"/>
            <a:ext cx="2560320" cy="384048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10528" y="27432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react-router-dom 7.15.0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2240" y="3200400"/>
            <a:ext cx="2560320" cy="384048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10528" y="32004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vite 8.0.1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92240" y="3657600"/>
            <a:ext cx="2560320" cy="384048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10528" y="36576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bootstrap 5.3.8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92240" y="4114800"/>
            <a:ext cx="2560320" cy="384048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10528" y="41148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leaflet 1.9.4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92240" y="4572000"/>
            <a:ext cx="2560320" cy="384048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10528" y="45720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react-leaflet 5.0.0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5029200"/>
            <a:ext cx="2560320" cy="384048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10528" y="50292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socket.io-client 4.8.3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464040" y="1143000"/>
            <a:ext cx="2743200" cy="594360"/>
          </a:xfrm>
          <a:prstGeom prst="rect">
            <a:avLst/>
          </a:prstGeom>
          <a:solidFill>
            <a:srgbClr val="641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537192" y="1216152"/>
            <a:ext cx="2596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dogmatch-mobile  React Native / Expo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64040" y="1737360"/>
            <a:ext cx="2743200" cy="5029200"/>
          </a:xfrm>
          <a:prstGeom prst="rect">
            <a:avLst/>
          </a:prstGeom>
          <a:solidFill>
            <a:srgbClr val="F0F4FF"/>
          </a:solidFill>
          <a:ln w="12700">
            <a:solidFill>
              <a:srgbClr val="641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555480" y="1828800"/>
            <a:ext cx="2560320" cy="384048"/>
          </a:xfrm>
          <a:prstGeom prst="rect">
            <a:avLst/>
          </a:prstGeom>
          <a:solidFill>
            <a:srgbClr val="641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73768" y="18288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expo 54.0.33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555480" y="2286000"/>
            <a:ext cx="2560320" cy="384048"/>
          </a:xfrm>
          <a:prstGeom prst="rect">
            <a:avLst/>
          </a:prstGeom>
          <a:solidFill>
            <a:srgbClr val="641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573768" y="22860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react-native 0.81.5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555480" y="2743200"/>
            <a:ext cx="2560320" cy="384048"/>
          </a:xfrm>
          <a:prstGeom prst="rect">
            <a:avLst/>
          </a:prstGeom>
          <a:solidFill>
            <a:srgbClr val="641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573768" y="27432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react 19.1.0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555480" y="3200400"/>
            <a:ext cx="2560320" cy="384048"/>
          </a:xfrm>
          <a:prstGeom prst="rect">
            <a:avLst/>
          </a:prstGeom>
          <a:solidFill>
            <a:srgbClr val="641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573768" y="32004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@reduxjs/toolkit 2.11.2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555480" y="3657600"/>
            <a:ext cx="2560320" cy="384048"/>
          </a:xfrm>
          <a:prstGeom prst="rect">
            <a:avLst/>
          </a:prstGeom>
          <a:solidFill>
            <a:srgbClr val="641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573768" y="36576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axios 1.13.6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55480" y="4114800"/>
            <a:ext cx="2560320" cy="384048"/>
          </a:xfrm>
          <a:prstGeom prst="rect">
            <a:avLst/>
          </a:prstGeom>
          <a:solidFill>
            <a:srgbClr val="641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573768" y="41148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socket.io-client 4.8.3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555480" y="4572000"/>
            <a:ext cx="2560320" cy="384048"/>
          </a:xfrm>
          <a:prstGeom prst="rect">
            <a:avLst/>
          </a:prstGeom>
          <a:solidFill>
            <a:srgbClr val="641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573768" y="45720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expo-notifications 0.32.17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555480" y="5029200"/>
            <a:ext cx="2560320" cy="384048"/>
          </a:xfrm>
          <a:prstGeom prst="rect">
            <a:avLst/>
          </a:prstGeom>
          <a:solidFill>
            <a:srgbClr val="641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573768" y="50292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expo-secure-store 15.0.8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555480" y="5486400"/>
            <a:ext cx="2560320" cy="384048"/>
          </a:xfrm>
          <a:prstGeom prst="rect">
            <a:avLst/>
          </a:prstGeom>
          <a:solidFill>
            <a:srgbClr val="641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573768" y="54864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expo-location 19.0.8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55480" y="5943600"/>
            <a:ext cx="2560320" cy="384048"/>
          </a:xfrm>
          <a:prstGeom prst="rect">
            <a:avLst/>
          </a:prstGeom>
          <a:solidFill>
            <a:srgbClr val="641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573768" y="59436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react-native-deck-swiper 2.0.19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555480" y="6400800"/>
            <a:ext cx="2560320" cy="384048"/>
          </a:xfrm>
          <a:prstGeom prst="rect">
            <a:avLst/>
          </a:prstGeom>
          <a:solidFill>
            <a:srgbClr val="641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573768" y="64008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typescript 5.9.2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74320" y="6492240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E5A"/>
                </a:solidFill>
              </a:rPr>
              <a:t>Servizi cloud: OpenAI GPT-4o  |  Expo Push Service  |  Tavily API  |  HuggingFace Hub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B4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"/>
            <a:ext cx="12188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Punti di forza e conclusioni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611880" cy="4572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9786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Architettura pulita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3611880" cy="960120"/>
          </a:xfrm>
          <a:prstGeom prst="rect">
            <a:avLst/>
          </a:prstGeom>
          <a:solidFill>
            <a:srgbClr val="16204B"/>
          </a:solidFill>
          <a:ln w="1905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673352"/>
            <a:ext cx="33924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</a:rPr>
              <a:t>4 repo con responsabilita' nette.
Nessun client chiama mai il servizio AI direttamente.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143000"/>
            <a:ext cx="361188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19786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AI contestualizzata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600200"/>
            <a:ext cx="3611880" cy="960120"/>
          </a:xfrm>
          <a:prstGeom prst="rect">
            <a:avLst/>
          </a:prstGeom>
          <a:solidFill>
            <a:srgbClr val="16204B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673352"/>
            <a:ext cx="33924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</a:rPr>
              <a:t>SnoutBot conosce profilo, cane, match e preferenze.
Non e' un chatbot generico.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43000"/>
            <a:ext cx="3611880" cy="4572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19786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Real-time completo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600200"/>
            <a:ext cx="3611880" cy="960120"/>
          </a:xfrm>
          <a:prstGeom prst="rect">
            <a:avLst/>
          </a:prstGeom>
          <a:solidFill>
            <a:srgbClr val="16204B"/>
          </a:solidFill>
          <a:ln w="1905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673352"/>
            <a:ext cx="33924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</a:rPr>
              <a:t>Socket.IO su tutte le piattaforme.
Push Expo per raggiungere l'utente offline.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43200"/>
            <a:ext cx="361188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9806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Cross-platform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00400"/>
            <a:ext cx="3611880" cy="960120"/>
          </a:xfrm>
          <a:prstGeom prst="rect">
            <a:avLst/>
          </a:prstGeom>
          <a:solidFill>
            <a:srgbClr val="16204B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273552"/>
            <a:ext cx="33924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</a:rPr>
              <a:t>Un'unica API REST serve web e mobile.
storage.js astrae SecureStore / localStorage.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743200"/>
            <a:ext cx="3611880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279806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Sicurezza multi-layer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200400"/>
            <a:ext cx="3611880" cy="960120"/>
          </a:xfrm>
          <a:prstGeom prst="rect">
            <a:avLst/>
          </a:prstGeom>
          <a:solidFill>
            <a:srgbClr val="16204B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3273552"/>
            <a:ext cx="33924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</a:rPr>
              <a:t>JWT, bcrypt, rate limiting, validazione input,
verifica partecipazione nelle chat.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2743200"/>
            <a:ext cx="3611880" cy="457200"/>
          </a:xfrm>
          <a:prstGeom prst="rect">
            <a:avLst/>
          </a:prstGeom>
          <a:solidFill>
            <a:srgbClr val="641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79806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Scalabilita' del dato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200400"/>
            <a:ext cx="3611880" cy="960120"/>
          </a:xfrm>
          <a:prstGeom prst="rect">
            <a:avLst/>
          </a:prstGeom>
          <a:solidFill>
            <a:srgbClr val="16204B"/>
          </a:solidFill>
          <a:ln w="19050">
            <a:solidFill>
              <a:srgbClr val="641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3273552"/>
            <a:ext cx="33924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</a:rPr>
              <a:t>Embedding con cache LRU + MEDIUMBLOB MySQL.
Background scanner non blocca l'event loop.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00400" y="5760720"/>
            <a:ext cx="5760720" cy="0"/>
          </a:xfrm>
          <a:prstGeom prst="line">
            <a:avLst/>
          </a:prstGeom>
          <a:ln w="25400">
            <a:solidFill>
              <a:srgbClr val="FF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0" y="5897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DogMatch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63550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CA5DC"/>
                </a:solidFill>
              </a:rPr>
              <a:t>4 repository  |  146 file  |  59 endpoint  |  14 tool AI  |  30 schermate  |  GPT-4o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05064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